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1EAD11-C244-824E-1920-1AD965F2BB05}">
          <p14:sldIdLst>
            <p14:sldId id="256"/>
          </p14:sldIdLst>
        </p14:section>
        <p14:section name="Abstract and Background" id="{DE4F70F1-35B7-7396-644C-6BB98BB1EAA5}">
          <p14:sldIdLst>
            <p14:sldId id="257"/>
            <p14:sldId id="258"/>
            <p14:sldId id="259"/>
            <p14:sldId id="260"/>
          </p14:sldIdLst>
        </p14:section>
        <p14:section name="Proposed Solution" id="{B1126E99-376D-31C5-8750-EF7263244A67}">
          <p14:sldIdLst>
            <p14:sldId id="261"/>
            <p14:sldId id="262"/>
            <p14:sldId id="263"/>
          </p14:sldIdLst>
        </p14:section>
        <p14:section name="Results" id="{67C28F5D-E982-821C-324B-913AFED5813E}">
          <p14:sldIdLst/>
        </p14:section>
        <p14:section name="Design" id="{29E0C52A-F1AE-AED3-EA39-3BCA70B1EB55}">
          <p14:sldIdLst>
            <p14:sldId id="266"/>
            <p14:sldId id="267"/>
          </p14:sldIdLst>
        </p14:section>
        <p14:section name="Plan and References" id="{11F58D87-F71C-D5EF-EA74-94D0D6FB22F7}">
          <p14:sldIdLst>
            <p14:sldId id="269"/>
          </p14:sldIdLst>
        </p14:section>
        <p14:section name="Closing" id="{10AFD177-52C0-7D35-9F69-7234EE0FFF4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A183A-F4D9-4D63-B247-E01A381D2BA2}" v="2" dt="2026-10-14T11:55:02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F3B85-2C45-4E2D-80E2-593B2042266E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48E5C-B4C6-4B31-85FD-6BE09055EE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1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ORI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65760"/>
            <a:ext cx="1124712" cy="11155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5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813816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UrbanFlux · PS-003 · AIORI 3 · October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3816" y="2788920"/>
            <a:ext cx="105613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13816" y="3675888"/>
            <a:ext cx="105613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813816" y="192024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chemeClr val="tx2"/>
                </a:solidFill>
              </a:rPr>
              <a:t>PS-003</a:t>
            </a:r>
            <a:endParaRPr lang="en-US" sz="3900" dirty="0"/>
          </a:p>
        </p:txBody>
      </p:sp>
      <p:sp>
        <p:nvSpPr>
          <p:cNvPr id="3" name="cover subtitle"/>
          <p:cNvSpPr txBox="1"/>
          <p:nvPr/>
        </p:nvSpPr>
        <p:spPr>
          <a:xfrm>
            <a:off x="813816" y="267004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50" dirty="0">
                <a:solidFill>
                  <a:schemeClr val="tx1"/>
                </a:solidFill>
              </a:rPr>
              <a:t>Federated Traffic-Flow Prediction with Communication-Cost Evaluation</a:t>
            </a:r>
            <a:endParaRPr lang="en-US" sz="2650" dirty="0"/>
          </a:p>
        </p:txBody>
      </p:sp>
      <p:sp>
        <p:nvSpPr>
          <p:cNvPr id="4" name="cover meta"/>
          <p:cNvSpPr txBox="1"/>
          <p:nvPr/>
        </p:nvSpPr>
        <p:spPr>
          <a:xfrm>
            <a:off x="813816" y="361188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chemeClr val="tx1"/>
                </a:solidFill>
              </a:rPr>
              <a:t>Dhanvanth Kumar G · Team UrbanFlux</a:t>
            </a:r>
            <a:endParaRPr lang="en-US" sz="1650" dirty="0"/>
          </a:p>
        </p:txBody>
      </p:sp>
      <p:sp>
        <p:nvSpPr>
          <p:cNvPr id="5" name="cover meta"/>
          <p:cNvSpPr txBox="1"/>
          <p:nvPr/>
        </p:nvSpPr>
        <p:spPr>
          <a:xfrm>
            <a:off x="813816" y="408736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dhanvanthkumarg05@gmail.com</a:t>
            </a:r>
            <a:endParaRPr lang="en-US" sz="1350" dirty="0"/>
          </a:p>
        </p:txBody>
      </p:sp>
      <p:sp>
        <p:nvSpPr>
          <p:cNvPr id="6" name="cover meta"/>
          <p:cNvSpPr txBox="1"/>
          <p:nvPr/>
        </p:nvSpPr>
        <p:spPr>
          <a:xfrm>
            <a:off x="813816" y="452628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2"/>
                </a:solidFill>
              </a:rPr>
              <a:t>IIT Guwahati · Smart Cities Track</a:t>
            </a:r>
            <a:endParaRPr lang="en-US" sz="1350" dirty="0"/>
          </a:p>
        </p:txBody>
      </p:sp>
      <p:sp>
        <p:nvSpPr>
          <p:cNvPr id="7" name="cover meta"/>
          <p:cNvSpPr txBox="1"/>
          <p:nvPr/>
        </p:nvSpPr>
        <p:spPr>
          <a:xfrm>
            <a:off x="813816" y="496519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accent2"/>
                </a:solidFill>
              </a:rPr>
              <a:t>AIORI Hackathon 3 · October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Abstract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Description</a:t>
            </a:r>
            <a:endParaRPr lang="en-US" sz="3400" dirty="0"/>
          </a:p>
        </p:txBody>
      </p:sp>
      <p:sp>
        <p:nvSpPr>
          <p:cNvPr id="4" name="problem bullets"/>
          <p:cNvSpPr txBox="1"/>
          <p:nvPr/>
        </p:nvSpPr>
        <p:spPr>
          <a:xfrm>
            <a:off x="813816" y="2029968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Traffic sensors sit in different jurisdictions. Centralising raw data costs bandwidth and exposes sensitive movement patterns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Federated learning keeps data local, but every round costs bandwidth, and accuracy can drop when clients see different traffic (non-IID data)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compare federated and centralised flow forecasting under IID and non-IID clients, reporting MAE, RMSE and MAPE at 15, 30, 60 min, bytes per round and convergence over 3 seeds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answer: a compact federated GRU with a measured byte ledger on four PeMS datasets (Phase 1, complete). Optional extension: differential privacy at ε = 1, 5, 10 (Phase 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Background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Background</a:t>
            </a:r>
            <a:endParaRPr lang="en-US" sz="3400" dirty="0"/>
          </a:p>
        </p:txBody>
      </p:sp>
      <p:sp>
        <p:nvSpPr>
          <p:cNvPr id="4" name="Traffic prediction card"/>
          <p:cNvSpPr/>
          <p:nvPr/>
        </p:nvSpPr>
        <p:spPr>
          <a:xfrm>
            <a:off x="813816" y="2029968"/>
            <a:ext cx="3416808" cy="2231136"/>
          </a:xfrm>
          <a:prstGeom prst="roundRect">
            <a:avLst>
              <a:gd name="adj" fmla="val 4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raffic prediction text"/>
          <p:cNvSpPr txBox="1"/>
          <p:nvPr/>
        </p:nvSpPr>
        <p:spPr>
          <a:xfrm>
            <a:off x="1033272" y="2231136"/>
            <a:ext cx="29778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Traffic prediction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Forecast vehicle flow 15 to 60 minutes ahead from loop-detector readings (vehicle counts per 5 minutes). It drives adaptive signals, routing and emergency dispatch.</a:t>
            </a:r>
            <a:endParaRPr lang="en-US" sz="1650" dirty="0"/>
          </a:p>
        </p:txBody>
      </p:sp>
      <p:sp>
        <p:nvSpPr>
          <p:cNvPr id="6" name="Why federated learning card"/>
          <p:cNvSpPr/>
          <p:nvPr/>
        </p:nvSpPr>
        <p:spPr>
          <a:xfrm>
            <a:off x="4386072" y="2029968"/>
            <a:ext cx="3416808" cy="2231136"/>
          </a:xfrm>
          <a:prstGeom prst="roundRect">
            <a:avLst>
              <a:gd name="adj" fmla="val 4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y federated learning text"/>
          <p:cNvSpPr txBox="1"/>
          <p:nvPr/>
        </p:nvSpPr>
        <p:spPr>
          <a:xfrm>
            <a:off x="4605528" y="2231136"/>
            <a:ext cx="29778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Why federated learning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Sensors belong to different regions and operators, so data sharing is restricted. FedAvg [1] trains locally and shares only weights, cutting bandwidth, but every round has a measurable communication cost.</a:t>
            </a:r>
            <a:endParaRPr lang="en-US" sz="1650" dirty="0"/>
          </a:p>
        </p:txBody>
      </p:sp>
      <p:sp>
        <p:nvSpPr>
          <p:cNvPr id="8" name="Why differential privacy card"/>
          <p:cNvSpPr/>
          <p:nvPr/>
        </p:nvSpPr>
        <p:spPr>
          <a:xfrm>
            <a:off x="7958328" y="2029968"/>
            <a:ext cx="3416808" cy="2231136"/>
          </a:xfrm>
          <a:prstGeom prst="roundRect">
            <a:avLst>
              <a:gd name="adj" fmla="val 40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hy differential privacy text"/>
          <p:cNvSpPr txBox="1"/>
          <p:nvPr/>
        </p:nvSpPr>
        <p:spPr>
          <a:xfrm>
            <a:off x="8177784" y="2231136"/>
            <a:ext cx="29778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Why differential privacy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Weight updates can still leak patterns through inversion and membership inference. (ε, δ)-DP [2] bounds that leakage with clipped, noised updates. Phase 2 only, beyond the PS-003 scope.</a:t>
            </a:r>
            <a:endParaRPr lang="en-US" sz="1650" dirty="0"/>
          </a:p>
        </p:txBody>
      </p:sp>
      <p:sp>
        <p:nvSpPr>
          <p:cNvPr id="10" name="caption"/>
          <p:cNvSpPr txBox="1"/>
          <p:nvPr/>
        </p:nvSpPr>
        <p:spPr>
          <a:xfrm>
            <a:off x="813816" y="449884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PS-003 asks for accurate forecasts, IID vs non-IID comparison and exact communication-cost reporting, so we measure bytes per round, bytes to convergence and rounds to convergence.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Background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Background: Datasets</a:t>
            </a:r>
            <a:endParaRPr lang="en-US" sz="3400" dirty="0"/>
          </a:p>
        </p:txBody>
      </p:sp>
      <p:graphicFrame>
        <p:nvGraphicFramePr>
          <p:cNvPr id="5" name="datas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029968"/>
          <a:ext cx="10561320" cy="2484120"/>
        </p:xfrm>
        <a:graphic>
          <a:graphicData uri="http://schemas.openxmlformats.org/drawingml/2006/table">
            <a:tbl>
              <a:tblPr/>
              <a:tblGrid>
                <a:gridCol w="211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Sensors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Period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Time steps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PeMS-08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170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Jul–Aug 2016 (62 days)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17,856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Smallest, fast sanity check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PeMS-04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307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Jan–Feb 2018 (59 days)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16,992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Primary dataset for PS-003, standard benchmark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PeMS-03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358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Sep–Nov 2018 (91 days)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26,208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Mid-size, urban and suburban mix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PeMS-07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883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May–Aug 2017 (98 days)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28,224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Large-scale test, 4 clients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813816" y="495604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Same model and FL setup on all four, no code changes, to show scaling from 170 to 883 sensors. All record vehicle flow, unlike METR-LA and PEMS-BAY (speed). Flow channel only, chronological split 60 / 20 / 20, 5-minute resolution [3, 9].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Literature &amp; RFC Review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Literature &amp; RFC Review</a:t>
            </a:r>
            <a:endParaRPr lang="en-US" sz="3400" dirty="0"/>
          </a:p>
        </p:txBody>
      </p:sp>
      <p:graphicFrame>
        <p:nvGraphicFramePr>
          <p:cNvPr id="6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029968"/>
          <a:ext cx="10561320" cy="2633472"/>
        </p:xfrm>
        <a:graphic>
          <a:graphicData uri="http://schemas.openxmlformats.org/drawingml/2006/table">
            <a:tbl>
              <a:tblPr/>
              <a:tblGrid>
                <a:gridCol w="3168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Contribution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Role here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McMahan et al. [1]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FedAvg, communication-efficient FL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Aggregation algorithm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Guo et al. [3], Song et al. [9]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PeMS-04/08 and PeMS-03/07 benchmark releases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Datasets and split convention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Yuan et al. [5]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FedSTN for federated traffic flow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Related federated traffic work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 et al. [4]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DCRNN spatial-temporal forecasting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Future GNN direction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RFC 9293 [10], RFC 8446 [11]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TCP and TLS 1.3 per-message overhead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 report payload bytes, headers excluded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Abadi et al. [6]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DP-SGD, clipping + Gaussian noise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Clip-and-noise recipe (Phase 2)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Mironov [7]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Rényi DP accounting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Tight ε tracking over rounds (Phase 2)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Geyer et al. [8]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Client-level DP in FL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Privacy model for Phase 2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Proposed Solution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Solution</a:t>
            </a:r>
            <a:endParaRPr lang="en-US" sz="3400" dirty="0"/>
          </a:p>
        </p:txBody>
      </p:sp>
      <p:sp>
        <p:nvSpPr>
          <p:cNvPr id="4" name="phase 1 card"/>
          <p:cNvSpPr/>
          <p:nvPr/>
        </p:nvSpPr>
        <p:spPr>
          <a:xfrm>
            <a:off x="813816" y="2029968"/>
            <a:ext cx="5202936" cy="1984248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hase 1 text"/>
          <p:cNvSpPr txBox="1"/>
          <p:nvPr/>
        </p:nvSpPr>
        <p:spPr>
          <a:xfrm>
            <a:off x="1033272" y="2231136"/>
            <a:ext cx="476402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Phase 1: Baseline FL (complete)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1-layer GRU (32 hidden units) + linear head, 4,044 parameters shared by all sensors. FedAvg, 1 local epoch per round, 40 rounds, L1 loss, Adam lr 0.002. Cross-silo, K = 4 clients on every dataset. Compared with centralised and local-only baselines, IID and non-IID clients, 3 seeds.</a:t>
            </a:r>
            <a:endParaRPr lang="en-US" sz="1650" dirty="0"/>
          </a:p>
        </p:txBody>
      </p:sp>
      <p:sp>
        <p:nvSpPr>
          <p:cNvPr id="6" name="phase 2 card"/>
          <p:cNvSpPr/>
          <p:nvPr/>
        </p:nvSpPr>
        <p:spPr>
          <a:xfrm>
            <a:off x="6172200" y="2029968"/>
            <a:ext cx="5202936" cy="1984248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hase 2 text"/>
          <p:cNvSpPr txBox="1"/>
          <p:nvPr/>
        </p:nvSpPr>
        <p:spPr>
          <a:xfrm>
            <a:off x="6391656" y="2231136"/>
            <a:ext cx="476402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Phase 2: Differential Privacy (optional)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Clip weight update to L2 norm C = 1.0, add Gaussian noise, δ = 1e‑5, ε ∈ {1, 5, 10}. RDP accountant tracks cumulative ε. An extension beyond PS-003, which does not require formal privacy guarantees.</a:t>
            </a:r>
            <a:endParaRPr lang="en-US" sz="1650" dirty="0"/>
          </a:p>
        </p:txBody>
      </p:sp>
      <p:sp>
        <p:nvSpPr>
          <p:cNvPr id="8" name="communication card"/>
          <p:cNvSpPr/>
          <p:nvPr/>
        </p:nvSpPr>
        <p:spPr>
          <a:xfrm>
            <a:off x="813816" y="4169664"/>
            <a:ext cx="10561320" cy="1517904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mmunication text"/>
          <p:cNvSpPr txBox="1"/>
          <p:nvPr/>
        </p:nvSpPr>
        <p:spPr>
          <a:xfrm>
            <a:off x="1033272" y="4370832"/>
            <a:ext cx="101224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Exact communication cost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Every message is serialised and its length logged. fp32: bytes per round = 2 × K × P × 4 = 129,408 bytes (K = 4, P = 4,044). int8: 2 × K × (P + 4 × 6 tensor scales) = 32,544 bytes, 75% less. Measured sizes match the formulas exactly. Logged every round, plus cumulative bytes and the convergence round.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Proposed Solution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Solution: Pipeline Details</a:t>
            </a:r>
            <a:endParaRPr lang="en-US" sz="3400" dirty="0"/>
          </a:p>
        </p:txBody>
      </p:sp>
      <p:sp>
        <p:nvSpPr>
          <p:cNvPr id="4" name="1 Data preparation card"/>
          <p:cNvSpPr/>
          <p:nvPr/>
        </p:nvSpPr>
        <p:spPr>
          <a:xfrm>
            <a:off x="813816" y="2029968"/>
            <a:ext cx="3416808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1 Data preparation text"/>
          <p:cNvSpPr txBox="1"/>
          <p:nvPr/>
        </p:nvSpPr>
        <p:spPr>
          <a:xfrm>
            <a:off x="1033272" y="2231136"/>
            <a:ext cx="29778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1 Data preparation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Load PeMS .npz [T, N, C], keep the flow channel. Chronological 60 / 20 / 20 split, each window lies fully inside one split (no leakage). One global z-score from training data only, built from client sums, so no raw data is shared. Sliding windows, stride 1: 12 steps in (flow, time of day, weekend flag), 12 steps of flow out.</a:t>
            </a:r>
            <a:endParaRPr lang="en-US" sz="1650" dirty="0"/>
          </a:p>
        </p:txBody>
      </p:sp>
      <p:sp>
        <p:nvSpPr>
          <p:cNvPr id="6" name="2 Model and local training card"/>
          <p:cNvSpPr/>
          <p:nvPr/>
        </p:nvSpPr>
        <p:spPr>
          <a:xfrm>
            <a:off x="4386072" y="2029968"/>
            <a:ext cx="3416808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2 Model and local training text"/>
          <p:cNvSpPr txBox="1"/>
          <p:nvPr/>
        </p:nvSpPr>
        <p:spPr>
          <a:xfrm>
            <a:off x="4605528" y="2231136"/>
            <a:ext cx="29778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2 Model and local training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1-layer GRU, 32 hidden units, linear 32 → 12. One model shared by every sensor, so bytes do not grow with the sensor count. L1 loss, Adam lr 0.002, 4,096 sequences per batch, gradient clip 5, 1 local epoch per round. Chosen for its low parameter count (cheap rounds).</a:t>
            </a:r>
            <a:endParaRPr lang="en-US" sz="1650" dirty="0"/>
          </a:p>
        </p:txBody>
      </p:sp>
      <p:sp>
        <p:nvSpPr>
          <p:cNvPr id="8" name="3 Federated protocol card"/>
          <p:cNvSpPr/>
          <p:nvPr/>
        </p:nvSpPr>
        <p:spPr>
          <a:xfrm>
            <a:off x="7958328" y="2029968"/>
            <a:ext cx="3416808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3 Federated protocol text"/>
          <p:cNvSpPr txBox="1"/>
          <p:nvPr/>
        </p:nvSpPr>
        <p:spPr>
          <a:xfrm>
            <a:off x="8177784" y="2231136"/>
            <a:ext cx="29778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2"/>
                </a:solidFill>
              </a:rPr>
              <a:t>3 Federated protocol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K = 4 clients. IID: random sensor split. Non-IID: sensors sorted by mean flow and cut into 4 bands, quiet to busy. Synchronous rounds, full participation, FedAvg weighted by n_k / Σn. 40 rounds, best round chosen on validation. Converged = first round within 5% of the best validation MAE.</a:t>
            </a:r>
            <a:endParaRPr lang="en-US" sz="1650" dirty="0"/>
          </a:p>
        </p:txBody>
      </p:sp>
      <p:graphicFrame>
        <p:nvGraphicFramePr>
          <p:cNvPr id="10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4727448"/>
          <a:ext cx="10561321" cy="804672"/>
        </p:xfrm>
        <a:graphic>
          <a:graphicData uri="http://schemas.openxmlformats.org/drawingml/2006/table">
            <a:tbl>
              <a:tblPr/>
              <a:tblGrid>
                <a:gridCol w="351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Computed on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Horizons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MAE, RMSE, MAPE (MAPE skips zero readings)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Original-scale test predictions (vehicles per 5 min), mean ± std over 3 seeds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12 steps, plus steps 3, 6, 12 = 15, 30, 60 min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Solution Optimization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Optimization Proposed</a:t>
            </a:r>
            <a:endParaRPr lang="en-US" sz="3400" dirty="0"/>
          </a:p>
        </p:txBody>
      </p:sp>
      <p:graphicFrame>
        <p:nvGraphicFramePr>
          <p:cNvPr id="9" name="optimis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029968"/>
          <a:ext cx="10561321" cy="2505456"/>
        </p:xfrm>
        <a:graphic>
          <a:graphicData uri="http://schemas.openxmlformats.org/drawingml/2006/table">
            <a:tbl>
              <a:tblPr/>
              <a:tblGrid>
                <a:gridCol w="351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Aspect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Phase 1 (complete)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Phase 2 (optional)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 stays local, no formal guarantee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(ε, δ)-DP, ε = 1, 5, 10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Client update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Weight delta, fp32 or int8 encoded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Clipped delta + Gaussian noise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Per-round bytes (K = 4)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129.4 KB fp32, 32.5 KB int8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Identical (noise adds no parameters)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Rounds to converge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Measured (see Results)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Expected to rise as ε falls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60-min MAE, PeMS-04 non-IID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31.21 fp32, 31.30 int8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Expected to rise as ε falls (to be measured)</a:t>
                      </a:r>
                      <a:endParaRPr lang="en-US" sz="13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813816" y="495604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int8 encoding is the Phase 1 optimisation: 75% fewer bytes, with test MAE within ±0.2% on all four datasets. Only the client and server modules change in Phase 2, so differences are attributable to the privacy mechanism.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Architecture Design (UML Diagram)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Solution Architecture &amp; Design</a:t>
            </a:r>
            <a:endParaRPr lang="en-US" sz="3400" dirty="0"/>
          </a:p>
        </p:txBody>
      </p:sp>
      <p:sp>
        <p:nvSpPr>
          <p:cNvPr id="4" name="PeMS .npz box edge"/>
          <p:cNvSpPr/>
          <p:nvPr/>
        </p:nvSpPr>
        <p:spPr>
          <a:xfrm>
            <a:off x="813816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eMS .npz box"/>
          <p:cNvSpPr/>
          <p:nvPr/>
        </p:nvSpPr>
        <p:spPr>
          <a:xfrm>
            <a:off x="813816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eMS .npz text"/>
          <p:cNvSpPr txBox="1"/>
          <p:nvPr/>
        </p:nvSpPr>
        <p:spPr>
          <a:xfrm>
            <a:off x="941832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PeMS .npz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Flow channel [T, N], federated z-score, 12-in / 12-out windows</a:t>
            </a:r>
            <a:endParaRPr lang="en-US" sz="1450" dirty="0"/>
          </a:p>
        </p:txBody>
      </p:sp>
      <p:sp>
        <p:nvSpPr>
          <p:cNvPr id="7" name="arrow"/>
          <p:cNvSpPr txBox="1"/>
          <p:nvPr/>
        </p:nvSpPr>
        <p:spPr>
          <a:xfrm>
            <a:off x="2176272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8" name="Partition box edge"/>
          <p:cNvSpPr/>
          <p:nvPr/>
        </p:nvSpPr>
        <p:spPr>
          <a:xfrm>
            <a:off x="2651760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Partition box"/>
          <p:cNvSpPr/>
          <p:nvPr/>
        </p:nvSpPr>
        <p:spPr>
          <a:xfrm>
            <a:off x="2651760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rtition text"/>
          <p:cNvSpPr txBox="1"/>
          <p:nvPr/>
        </p:nvSpPr>
        <p:spPr>
          <a:xfrm>
            <a:off x="2779776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Partition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K = 4 clients, IID random or non-IID volume bands</a:t>
            </a:r>
            <a:endParaRPr lang="en-US" sz="1450" dirty="0"/>
          </a:p>
        </p:txBody>
      </p:sp>
      <p:sp>
        <p:nvSpPr>
          <p:cNvPr id="11" name="arrow"/>
          <p:cNvSpPr txBox="1"/>
          <p:nvPr/>
        </p:nvSpPr>
        <p:spPr>
          <a:xfrm>
            <a:off x="4014216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12" name="Local GRU box edge"/>
          <p:cNvSpPr/>
          <p:nvPr/>
        </p:nvSpPr>
        <p:spPr>
          <a:xfrm>
            <a:off x="4489704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Local GRU box"/>
          <p:cNvSpPr/>
          <p:nvPr/>
        </p:nvSpPr>
        <p:spPr>
          <a:xfrm>
            <a:off x="4489704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ocal GRU text"/>
          <p:cNvSpPr txBox="1"/>
          <p:nvPr/>
        </p:nvSpPr>
        <p:spPr>
          <a:xfrm>
            <a:off x="4617720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Local GRU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1 epoch per round on private data</a:t>
            </a:r>
            <a:endParaRPr lang="en-US" sz="1450" dirty="0"/>
          </a:p>
        </p:txBody>
      </p:sp>
      <p:sp>
        <p:nvSpPr>
          <p:cNvPr id="15" name="arrow"/>
          <p:cNvSpPr txBox="1"/>
          <p:nvPr/>
        </p:nvSpPr>
        <p:spPr>
          <a:xfrm>
            <a:off x="5852160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16" name="Codec box edge"/>
          <p:cNvSpPr/>
          <p:nvPr/>
        </p:nvSpPr>
        <p:spPr>
          <a:xfrm>
            <a:off x="6327648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Codec box"/>
          <p:cNvSpPr/>
          <p:nvPr/>
        </p:nvSpPr>
        <p:spPr>
          <a:xfrm>
            <a:off x="6327648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dec text"/>
          <p:cNvSpPr txBox="1"/>
          <p:nvPr/>
        </p:nvSpPr>
        <p:spPr>
          <a:xfrm>
            <a:off x="6455664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Codec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Delta as fp32 or int8. Phase 2: clip and add noise first</a:t>
            </a:r>
            <a:endParaRPr lang="en-US" sz="1450" dirty="0"/>
          </a:p>
        </p:txBody>
      </p:sp>
      <p:sp>
        <p:nvSpPr>
          <p:cNvPr id="19" name="arrow"/>
          <p:cNvSpPr txBox="1"/>
          <p:nvPr/>
        </p:nvSpPr>
        <p:spPr>
          <a:xfrm>
            <a:off x="7690104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20" name="FedAvg server box edge"/>
          <p:cNvSpPr/>
          <p:nvPr/>
        </p:nvSpPr>
        <p:spPr>
          <a:xfrm>
            <a:off x="8165592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FedAvg server box"/>
          <p:cNvSpPr/>
          <p:nvPr/>
        </p:nvSpPr>
        <p:spPr>
          <a:xfrm>
            <a:off x="8165592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edAvg server text"/>
          <p:cNvSpPr txBox="1"/>
          <p:nvPr/>
        </p:nvSpPr>
        <p:spPr>
          <a:xfrm>
            <a:off x="8293608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FedAvg server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Weighted average by sample count</a:t>
            </a:r>
            <a:endParaRPr lang="en-US" sz="1450" dirty="0"/>
          </a:p>
        </p:txBody>
      </p:sp>
      <p:sp>
        <p:nvSpPr>
          <p:cNvPr id="23" name="arrow"/>
          <p:cNvSpPr txBox="1"/>
          <p:nvPr/>
        </p:nvSpPr>
        <p:spPr>
          <a:xfrm>
            <a:off x="9528048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24" name="Evaluate + log box edge"/>
          <p:cNvSpPr/>
          <p:nvPr/>
        </p:nvSpPr>
        <p:spPr>
          <a:xfrm>
            <a:off x="10003536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Evaluate + log box"/>
          <p:cNvSpPr/>
          <p:nvPr/>
        </p:nvSpPr>
        <p:spPr>
          <a:xfrm>
            <a:off x="10003536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Evaluate + log text"/>
          <p:cNvSpPr txBox="1"/>
          <p:nvPr/>
        </p:nvSpPr>
        <p:spPr>
          <a:xfrm>
            <a:off x="10131552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Evaluate + log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MAE, RMSE, MAPE, measured bytes per round</a:t>
            </a:r>
            <a:endParaRPr lang="en-US" sz="1450" dirty="0"/>
          </a:p>
        </p:txBody>
      </p:sp>
      <p:sp>
        <p:nvSpPr>
          <p:cNvPr id="27" name="caption"/>
          <p:cNvSpPr txBox="1"/>
          <p:nvPr/>
        </p:nvSpPr>
        <p:spPr>
          <a:xfrm>
            <a:off x="813816" y="402336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Star topology, synchronous full participation, federation simulated on one machine. Byte costs measured from serialised payloads and checked against the analytical formula. Baselines: centralised (raw data uploaded once) and local-only (no communication).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Data Flow Diagram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Flow Diagram</a:t>
            </a:r>
            <a:endParaRPr lang="en-US" sz="3400" dirty="0"/>
          </a:p>
        </p:txBody>
      </p:sp>
      <p:sp>
        <p:nvSpPr>
          <p:cNvPr id="4" name="1 Broadcast box edge"/>
          <p:cNvSpPr/>
          <p:nvPr/>
        </p:nvSpPr>
        <p:spPr>
          <a:xfrm>
            <a:off x="813816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1 Broadcast box"/>
          <p:cNvSpPr/>
          <p:nvPr/>
        </p:nvSpPr>
        <p:spPr>
          <a:xfrm>
            <a:off x="813816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1 Broadcast text"/>
          <p:cNvSpPr txBox="1"/>
          <p:nvPr/>
        </p:nvSpPr>
        <p:spPr>
          <a:xfrm>
            <a:off x="941832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1 Broadcast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Server sends the encoded global update to K clients</a:t>
            </a:r>
            <a:endParaRPr lang="en-US" sz="1450" dirty="0"/>
          </a:p>
        </p:txBody>
      </p:sp>
      <p:sp>
        <p:nvSpPr>
          <p:cNvPr id="7" name="arrow"/>
          <p:cNvSpPr txBox="1"/>
          <p:nvPr/>
        </p:nvSpPr>
        <p:spPr>
          <a:xfrm>
            <a:off x="2176272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8" name="2 Train box edge"/>
          <p:cNvSpPr/>
          <p:nvPr/>
        </p:nvSpPr>
        <p:spPr>
          <a:xfrm>
            <a:off x="2651760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2 Train box"/>
          <p:cNvSpPr/>
          <p:nvPr/>
        </p:nvSpPr>
        <p:spPr>
          <a:xfrm>
            <a:off x="2651760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2 Train text"/>
          <p:cNvSpPr txBox="1"/>
          <p:nvPr/>
        </p:nvSpPr>
        <p:spPr>
          <a:xfrm>
            <a:off x="2779776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2 Train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Each client trains E = 1 epoch locally</a:t>
            </a:r>
            <a:endParaRPr lang="en-US" sz="1450" dirty="0"/>
          </a:p>
        </p:txBody>
      </p:sp>
      <p:sp>
        <p:nvSpPr>
          <p:cNvPr id="11" name="arrow"/>
          <p:cNvSpPr txBox="1"/>
          <p:nvPr/>
        </p:nvSpPr>
        <p:spPr>
          <a:xfrm>
            <a:off x="4014216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12" name="3 Encode box edge"/>
          <p:cNvSpPr/>
          <p:nvPr/>
        </p:nvSpPr>
        <p:spPr>
          <a:xfrm>
            <a:off x="4489704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3 Encode box"/>
          <p:cNvSpPr/>
          <p:nvPr/>
        </p:nvSpPr>
        <p:spPr>
          <a:xfrm>
            <a:off x="4489704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3 Encode text"/>
          <p:cNvSpPr txBox="1"/>
          <p:nvPr/>
        </p:nvSpPr>
        <p:spPr>
          <a:xfrm>
            <a:off x="4617720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3 Encode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Δw = w_local − w_global as fp32 or int8. Phase 2: clip to C, add noise</a:t>
            </a:r>
            <a:endParaRPr lang="en-US" sz="1450" dirty="0"/>
          </a:p>
        </p:txBody>
      </p:sp>
      <p:sp>
        <p:nvSpPr>
          <p:cNvPr id="15" name="arrow"/>
          <p:cNvSpPr txBox="1"/>
          <p:nvPr/>
        </p:nvSpPr>
        <p:spPr>
          <a:xfrm>
            <a:off x="5852160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16" name="4 Upload box edge"/>
          <p:cNvSpPr/>
          <p:nvPr/>
        </p:nvSpPr>
        <p:spPr>
          <a:xfrm>
            <a:off x="6327648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4 Upload box"/>
          <p:cNvSpPr/>
          <p:nvPr/>
        </p:nvSpPr>
        <p:spPr>
          <a:xfrm>
            <a:off x="6327648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4 Upload text"/>
          <p:cNvSpPr txBox="1"/>
          <p:nvPr/>
        </p:nvSpPr>
        <p:spPr>
          <a:xfrm>
            <a:off x="6455664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4 Upload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Encoded deltas go to the server</a:t>
            </a:r>
            <a:endParaRPr lang="en-US" sz="1450" dirty="0"/>
          </a:p>
        </p:txBody>
      </p:sp>
      <p:sp>
        <p:nvSpPr>
          <p:cNvPr id="19" name="arrow"/>
          <p:cNvSpPr txBox="1"/>
          <p:nvPr/>
        </p:nvSpPr>
        <p:spPr>
          <a:xfrm>
            <a:off x="7690104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20" name="5 Aggregate box edge"/>
          <p:cNvSpPr/>
          <p:nvPr/>
        </p:nvSpPr>
        <p:spPr>
          <a:xfrm>
            <a:off x="8165592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5 Aggregate box"/>
          <p:cNvSpPr/>
          <p:nvPr/>
        </p:nvSpPr>
        <p:spPr>
          <a:xfrm>
            <a:off x="8165592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5 Aggregate text"/>
          <p:cNvSpPr txBox="1"/>
          <p:nvPr/>
        </p:nvSpPr>
        <p:spPr>
          <a:xfrm>
            <a:off x="8293608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5 Aggregate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FedAvg, then evaluate on each client's validation split</a:t>
            </a:r>
            <a:endParaRPr lang="en-US" sz="1450" dirty="0"/>
          </a:p>
        </p:txBody>
      </p:sp>
      <p:sp>
        <p:nvSpPr>
          <p:cNvPr id="23" name="arrow"/>
          <p:cNvSpPr txBox="1"/>
          <p:nvPr/>
        </p:nvSpPr>
        <p:spPr>
          <a:xfrm>
            <a:off x="9528048" y="2029968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</a:rPr>
              <a:t>→</a:t>
            </a:r>
            <a:endParaRPr lang="en-US" sz="1900" dirty="0"/>
          </a:p>
        </p:txBody>
      </p:sp>
      <p:sp>
        <p:nvSpPr>
          <p:cNvPr id="24" name="6 Log box edge"/>
          <p:cNvSpPr/>
          <p:nvPr/>
        </p:nvSpPr>
        <p:spPr>
          <a:xfrm>
            <a:off x="10003536" y="2029968"/>
            <a:ext cx="1362456" cy="1737360"/>
          </a:xfrm>
          <a:prstGeom prst="roundRect">
            <a:avLst>
              <a:gd name="adj" fmla="val 60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6 Log box"/>
          <p:cNvSpPr/>
          <p:nvPr/>
        </p:nvSpPr>
        <p:spPr>
          <a:xfrm>
            <a:off x="10003536" y="2075688"/>
            <a:ext cx="1362456" cy="169164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6 Log text"/>
          <p:cNvSpPr txBox="1"/>
          <p:nvPr/>
        </p:nvSpPr>
        <p:spPr>
          <a:xfrm>
            <a:off x="10131552" y="2212848"/>
            <a:ext cx="1124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chemeClr val="tx2"/>
                </a:solidFill>
              </a:rPr>
              <a:t>6 Log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Per-round and cumulative bytes, MAE, convergence (ε in Phase 2)</a:t>
            </a:r>
            <a:endParaRPr lang="en-US" sz="1450" dirty="0"/>
          </a:p>
        </p:txBody>
      </p:sp>
      <p:sp>
        <p:nvSpPr>
          <p:cNvPr id="27" name="caption"/>
          <p:cNvSpPr txBox="1"/>
          <p:nvPr/>
        </p:nvSpPr>
        <p:spPr>
          <a:xfrm>
            <a:off x="813816" y="402336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Repeats for 40 rounds. The best validation round is scored once on the test split. Raw sensor data never leaves a client.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80467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2"/>
                </a:solidFill>
              </a:rPr>
              <a:t>AIORI 3 · Bibliography</a:t>
            </a:r>
            <a:endParaRPr lang="en-US" sz="115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11887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Bibliography</a:t>
            </a:r>
            <a:endParaRPr lang="en-US" sz="3400" dirty="0"/>
          </a:p>
        </p:txBody>
      </p:sp>
      <p:sp>
        <p:nvSpPr>
          <p:cNvPr id="4" name="references"/>
          <p:cNvSpPr txBox="1"/>
          <p:nvPr/>
        </p:nvSpPr>
        <p:spPr>
          <a:xfrm>
            <a:off x="813816" y="1938528"/>
            <a:ext cx="10561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[1] McMahan et al. Communication-efficient learning of deep networks from decentralized data. AISTATS, 2017.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[2] Dwork, McSherry, Nissim, Smith. Calibrating noise to sensitivity in private data analysis. TCC, 2006.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[3] Guo, Lin, Feng, Song, Wan. Attention based spatial-temporal graph convolutional networks for traffic flow forecasting. AAAI, 2019.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[4] Li, Yu, Shahabi, Liu. Diffusion convolutional recurrent neural network. ICLR, 2018.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[5] Yuan et al. FedSTN: graph representation driven federated learning for urban traffic flow prediction. IEEE T-ITS, 2022.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[6] Abadi et al. Deep learning with differential privacy. ACM CCS, 2016.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[7] Mironov. Rényi differential privacy. IEEE CSF, 2017.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[8] Geyer, Klein, Nabi. Differentially private federated learning: a client level perspective. arXiv:1712.07557, 2017.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[9] Song, Lin, Guo, Wan. Spatial-temporal synchronous graph convolutional networks. AAAI, 2020.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[10] Eddy (ed.). RFC 9293: Transmission Control Protocol (TCP). IETF, 2022.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[11] Rescorla. RFC 8446: The Transport Layer Security (TLS) Protocol Version 1.3. IETF, 2018.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1996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3816" y="278892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accent6"/>
                </a:solidFill>
              </a:rPr>
              <a:t>Thank You for Your Attention!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13816" y="3675888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Team UrbanFlux · PS-003 · IIT Guwahati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banFlux">
  <a:themeElements>
    <a:clrScheme name="UrbanFlux">
      <a:dk1>
        <a:srgbClr val="1C1F33"/>
      </a:dk1>
      <a:lt1>
        <a:srgbClr val="FBFBF8"/>
      </a:lt1>
      <a:dk2>
        <a:srgbClr val="1A1FC4"/>
      </a:dk2>
      <a:lt2>
        <a:srgbClr val="EEF0FA"/>
      </a:lt2>
      <a:accent1>
        <a:srgbClr val="5D5FAE"/>
      </a:accent1>
      <a:accent2>
        <a:srgbClr val="63687A"/>
      </a:accent2>
      <a:accent3>
        <a:srgbClr val="C8C8C6"/>
      </a:accent3>
      <a:accent4>
        <a:srgbClr val="1A1FC4"/>
      </a:accent4>
      <a:accent5>
        <a:srgbClr val="CFD1F3"/>
      </a:accent5>
      <a:accent6>
        <a:srgbClr val="FFFFFF"/>
      </a:accent6>
      <a:hlink>
        <a:srgbClr val="1A1FC4"/>
      </a:hlink>
      <a:folHlink>
        <a:srgbClr val="5D5FAE"/>
      </a:folHlink>
    </a:clrScheme>
    <a:fontScheme name="UrbanFlux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UrbanFlux</vt:lpstr>
      <vt:lpstr>PowerPoint Presentation</vt:lpstr>
      <vt:lpstr>Problem Description</vt:lpstr>
      <vt:lpstr>Background</vt:lpstr>
      <vt:lpstr>Background: Datasets</vt:lpstr>
      <vt:lpstr>Literature &amp; RFC Review</vt:lpstr>
      <vt:lpstr>Proposed Solution</vt:lpstr>
      <vt:lpstr>Proposed Solution: Pipeline Details</vt:lpstr>
      <vt:lpstr>Optimization Proposed</vt:lpstr>
      <vt:lpstr>Solution Architecture &amp; Design</vt:lpstr>
      <vt:lpstr>Data Flow Diagram</vt:lpstr>
      <vt:lpstr>Bibliography</vt:lpstr>
      <vt:lpstr>Thank You for Your Attention!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UrbanFlux PS-003 Federated Traffic-Flow Prediction</dc:title>
  <dc:subject>AIORI Hackathon 3, PS-003</dc:subject>
  <dc:creator>Dhanvanth Kumar G</dc:creator>
  <cp:lastModifiedBy>Dhanvanth Kumar G</cp:lastModifiedBy>
  <cp:revision>4</cp:revision>
  <dcterms:created xsi:type="dcterms:W3CDTF">2026-10-10T16:24:09Z</dcterms:created>
  <dcterms:modified xsi:type="dcterms:W3CDTF">2026-10-14T11:56:13Z</dcterms:modified>
</cp:coreProperties>
</file>